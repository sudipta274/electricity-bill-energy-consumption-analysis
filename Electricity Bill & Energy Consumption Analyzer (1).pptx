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67" r:id="rId3"/>
    <p:sldId id="257" r:id="rId4"/>
    <p:sldId id="258" r:id="rId5"/>
    <p:sldId id="259" r:id="rId6"/>
    <p:sldId id="260" r:id="rId7"/>
    <p:sldId id="261" r:id="rId8"/>
    <p:sldId id="262" r:id="rId9"/>
    <p:sldId id="263" r:id="rId10"/>
    <p:sldId id="264" r:id="rId11"/>
    <p:sldId id="268" r:id="rId12"/>
    <p:sldId id="269" r:id="rId13"/>
    <p:sldId id="265" r:id="rId14"/>
    <p:sldId id="266"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9" d="100"/>
          <a:sy n="79" d="100"/>
        </p:scale>
        <p:origin x="120" y="15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61BEF0D-F0BB-DE4B-95CE-6DB70DBA9567}" type="datetimeFigureOut">
              <a:rPr lang="en-US" dirty="0"/>
              <a:pPr/>
              <a:t>5/27/2026</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217C01CDF565}" type="slidenum">
              <a:rPr lang="en-US" dirty="0"/>
              <a:pPr/>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dirty="0"/>
              <a:t>5/27/2026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dirty="0"/>
              <a:t>5/27/2026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5/27/2026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5/27/2026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5/27/2026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5/27/2026</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8" r:id="rId2"/>
    <p:sldLayoutId id="2147483651" r:id="rId3"/>
    <p:sldLayoutId id="2147483669"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0605F-7304-65A6-E640-6AF5345C4035}"/>
              </a:ext>
            </a:extLst>
          </p:cNvPr>
          <p:cNvSpPr>
            <a:spLocks noGrp="1"/>
          </p:cNvSpPr>
          <p:nvPr>
            <p:ph type="ctrTitle"/>
          </p:nvPr>
        </p:nvSpPr>
        <p:spPr/>
        <p:txBody>
          <a:bodyPr/>
          <a:lstStyle/>
          <a:p>
            <a:r>
              <a:rPr lang="en-US" dirty="0"/>
              <a:t>Electricity Bill &amp; Energy Consumption Analyzer</a:t>
            </a:r>
            <a:endParaRPr lang="en-IN" dirty="0"/>
          </a:p>
        </p:txBody>
      </p:sp>
      <p:sp>
        <p:nvSpPr>
          <p:cNvPr id="3" name="Subtitle 2">
            <a:extLst>
              <a:ext uri="{FF2B5EF4-FFF2-40B4-BE49-F238E27FC236}">
                <a16:creationId xmlns:a16="http://schemas.microsoft.com/office/drawing/2014/main" id="{B7257E1D-4B86-82B6-6B81-C26FB82B5B71}"/>
              </a:ext>
            </a:extLst>
          </p:cNvPr>
          <p:cNvSpPr>
            <a:spLocks noGrp="1"/>
          </p:cNvSpPr>
          <p:nvPr>
            <p:ph type="subTitle" idx="1"/>
          </p:nvPr>
        </p:nvSpPr>
        <p:spPr/>
        <p:txBody>
          <a:bodyPr>
            <a:normAutofit fontScale="77500" lnSpcReduction="20000"/>
          </a:bodyPr>
          <a:lstStyle/>
          <a:p>
            <a:r>
              <a:rPr lang="en-US" dirty="0"/>
              <a:t>By Sudipta Samanta</a:t>
            </a:r>
          </a:p>
          <a:p>
            <a:r>
              <a:rPr lang="en-US" b="1" dirty="0">
                <a:solidFill>
                  <a:srgbClr val="0070C0"/>
                </a:solidFill>
              </a:rPr>
              <a:t>MS Excel Data Analytics Project</a:t>
            </a:r>
          </a:p>
          <a:p>
            <a:r>
              <a:rPr lang="en-IN" dirty="0">
                <a:solidFill>
                  <a:schemeClr val="accent4">
                    <a:lumMod val="50000"/>
                  </a:schemeClr>
                </a:solidFill>
              </a:rPr>
              <a:t>ANP-D5749</a:t>
            </a:r>
          </a:p>
          <a:p>
            <a:r>
              <a:rPr lang="en-IN" b="1" dirty="0">
                <a:solidFill>
                  <a:srgbClr val="0070C0"/>
                </a:solidFill>
              </a:rPr>
              <a:t>Mentored by Mr Sayan Sau</a:t>
            </a:r>
          </a:p>
        </p:txBody>
      </p:sp>
      <p:pic>
        <p:nvPicPr>
          <p:cNvPr id="7" name="Picture 6">
            <a:extLst>
              <a:ext uri="{FF2B5EF4-FFF2-40B4-BE49-F238E27FC236}">
                <a16:creationId xmlns:a16="http://schemas.microsoft.com/office/drawing/2014/main" id="{410130A8-8DFA-F674-04DD-6EDE06484329}"/>
              </a:ext>
            </a:extLst>
          </p:cNvPr>
          <p:cNvPicPr>
            <a:picLocks noChangeAspect="1"/>
          </p:cNvPicPr>
          <p:nvPr/>
        </p:nvPicPr>
        <p:blipFill>
          <a:blip r:embed="rId2"/>
          <a:stretch>
            <a:fillRect/>
          </a:stretch>
        </p:blipFill>
        <p:spPr>
          <a:xfrm>
            <a:off x="9872373" y="3736259"/>
            <a:ext cx="2319627" cy="3121742"/>
          </a:xfrm>
          <a:prstGeom prst="rect">
            <a:avLst/>
          </a:prstGeom>
        </p:spPr>
      </p:pic>
      <p:pic>
        <p:nvPicPr>
          <p:cNvPr id="5" name="Picture 4">
            <a:extLst>
              <a:ext uri="{FF2B5EF4-FFF2-40B4-BE49-F238E27FC236}">
                <a16:creationId xmlns:a16="http://schemas.microsoft.com/office/drawing/2014/main" id="{C70E8D64-5FC7-1AA3-D902-61FD7D333170}"/>
              </a:ext>
            </a:extLst>
          </p:cNvPr>
          <p:cNvPicPr>
            <a:picLocks noChangeAspect="1"/>
          </p:cNvPicPr>
          <p:nvPr/>
        </p:nvPicPr>
        <p:blipFill>
          <a:blip r:embed="rId3"/>
          <a:stretch>
            <a:fillRect/>
          </a:stretch>
        </p:blipFill>
        <p:spPr>
          <a:xfrm>
            <a:off x="0" y="0"/>
            <a:ext cx="2782529" cy="1182575"/>
          </a:xfrm>
          <a:prstGeom prst="rect">
            <a:avLst/>
          </a:prstGeom>
        </p:spPr>
      </p:pic>
    </p:spTree>
    <p:extLst>
      <p:ext uri="{BB962C8B-B14F-4D97-AF65-F5344CB8AC3E}">
        <p14:creationId xmlns:p14="http://schemas.microsoft.com/office/powerpoint/2010/main" val="41067871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82027-0B8F-7795-A2F8-4D6E65F25DAC}"/>
              </a:ext>
            </a:extLst>
          </p:cNvPr>
          <p:cNvSpPr>
            <a:spLocks noGrp="1"/>
          </p:cNvSpPr>
          <p:nvPr>
            <p:ph type="title"/>
          </p:nvPr>
        </p:nvSpPr>
        <p:spPr/>
        <p:txBody>
          <a:bodyPr/>
          <a:lstStyle/>
          <a:p>
            <a:r>
              <a:rPr lang="en-IN" dirty="0"/>
              <a:t>Problem Statement</a:t>
            </a:r>
          </a:p>
        </p:txBody>
      </p:sp>
      <p:sp>
        <p:nvSpPr>
          <p:cNvPr id="3" name="Content Placeholder 2">
            <a:extLst>
              <a:ext uri="{FF2B5EF4-FFF2-40B4-BE49-F238E27FC236}">
                <a16:creationId xmlns:a16="http://schemas.microsoft.com/office/drawing/2014/main" id="{76629742-08AF-7133-BB56-FED9CCAF01F2}"/>
              </a:ext>
            </a:extLst>
          </p:cNvPr>
          <p:cNvSpPr>
            <a:spLocks noGrp="1"/>
          </p:cNvSpPr>
          <p:nvPr>
            <p:ph idx="1"/>
          </p:nvPr>
        </p:nvSpPr>
        <p:spPr/>
        <p:txBody>
          <a:bodyPr>
            <a:normAutofit fontScale="92500" lnSpcReduction="20000"/>
          </a:bodyPr>
          <a:lstStyle/>
          <a:p>
            <a:r>
              <a:rPr lang="en-US" dirty="0"/>
              <a:t>Electricity consumption is increasing rapidly due to the extensive use of electrical appliances in homes, industries, and commercial sectors. Managing electricity usage efficiently has become important to reduce energy wastage and control electricity bills. However, analyzing large electricity billing datasets manually is difficult and time-consuming.</a:t>
            </a:r>
          </a:p>
          <a:p>
            <a:r>
              <a:rPr lang="en-US" dirty="0"/>
              <a:t>This project aims to analyze electricity consumption and billing patterns using MS Excel. The project involves data cleaning, KPI analysis, PivotTables, charts, dashboards, and slicers to identify high electricity consumption areas, appliance usage trends, tariff variations, and companies with maximum and minimum electricity bills. The analysis helps in understanding energy consumption behavior and provides insights for better electricity management and energy-saving solutions.</a:t>
            </a:r>
          </a:p>
          <a:p>
            <a:endParaRPr lang="en-IN" dirty="0"/>
          </a:p>
        </p:txBody>
      </p:sp>
    </p:spTree>
    <p:extLst>
      <p:ext uri="{BB962C8B-B14F-4D97-AF65-F5344CB8AC3E}">
        <p14:creationId xmlns:p14="http://schemas.microsoft.com/office/powerpoint/2010/main" val="32123714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DC66C-6195-4C11-D52C-EF22DB2CBB69}"/>
              </a:ext>
            </a:extLst>
          </p:cNvPr>
          <p:cNvSpPr>
            <a:spLocks noGrp="1"/>
          </p:cNvSpPr>
          <p:nvPr>
            <p:ph type="title"/>
          </p:nvPr>
        </p:nvSpPr>
        <p:spPr/>
        <p:txBody>
          <a:bodyPr/>
          <a:lstStyle/>
          <a:p>
            <a:r>
              <a:rPr lang="en-IN" dirty="0"/>
              <a:t>Project Overview</a:t>
            </a:r>
          </a:p>
        </p:txBody>
      </p:sp>
      <p:sp>
        <p:nvSpPr>
          <p:cNvPr id="3" name="Content Placeholder 2">
            <a:extLst>
              <a:ext uri="{FF2B5EF4-FFF2-40B4-BE49-F238E27FC236}">
                <a16:creationId xmlns:a16="http://schemas.microsoft.com/office/drawing/2014/main" id="{206E3F1E-7C39-F146-DBC9-FFC2091B6D34}"/>
              </a:ext>
            </a:extLst>
          </p:cNvPr>
          <p:cNvSpPr>
            <a:spLocks noGrp="1"/>
          </p:cNvSpPr>
          <p:nvPr>
            <p:ph idx="1"/>
          </p:nvPr>
        </p:nvSpPr>
        <p:spPr/>
        <p:txBody>
          <a:bodyPr/>
          <a:lstStyle/>
          <a:p>
            <a:r>
              <a:rPr lang="en-US" dirty="0"/>
              <a:t>Developed an electricity consumption analysis dashboard using MS Excel. </a:t>
            </a:r>
          </a:p>
          <a:p>
            <a:r>
              <a:rPr lang="en-US" dirty="0"/>
              <a:t>Analyzed electricity billing and appliance usage patterns. </a:t>
            </a:r>
          </a:p>
          <a:p>
            <a:r>
              <a:rPr lang="en-US" dirty="0"/>
              <a:t>Created interactive visualizations using pivot tables and charts. </a:t>
            </a:r>
          </a:p>
          <a:p>
            <a:endParaRPr lang="en-IN" dirty="0"/>
          </a:p>
        </p:txBody>
      </p:sp>
      <p:pic>
        <p:nvPicPr>
          <p:cNvPr id="5" name="Picture 4">
            <a:extLst>
              <a:ext uri="{FF2B5EF4-FFF2-40B4-BE49-F238E27FC236}">
                <a16:creationId xmlns:a16="http://schemas.microsoft.com/office/drawing/2014/main" id="{9F503C79-7C91-B0F8-544C-5BEFC3533D34}"/>
              </a:ext>
            </a:extLst>
          </p:cNvPr>
          <p:cNvPicPr>
            <a:picLocks noChangeAspect="1"/>
          </p:cNvPicPr>
          <p:nvPr/>
        </p:nvPicPr>
        <p:blipFill>
          <a:blip r:embed="rId2"/>
          <a:stretch>
            <a:fillRect/>
          </a:stretch>
        </p:blipFill>
        <p:spPr>
          <a:xfrm>
            <a:off x="8327922" y="3971485"/>
            <a:ext cx="3251331" cy="2250443"/>
          </a:xfrm>
          <a:prstGeom prst="rect">
            <a:avLst/>
          </a:prstGeom>
        </p:spPr>
      </p:pic>
    </p:spTree>
    <p:extLst>
      <p:ext uri="{BB962C8B-B14F-4D97-AF65-F5344CB8AC3E}">
        <p14:creationId xmlns:p14="http://schemas.microsoft.com/office/powerpoint/2010/main" val="30290535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92AED-1DF0-A88E-F850-C332326516B8}"/>
              </a:ext>
            </a:extLst>
          </p:cNvPr>
          <p:cNvSpPr>
            <a:spLocks noGrp="1"/>
          </p:cNvSpPr>
          <p:nvPr>
            <p:ph type="title"/>
          </p:nvPr>
        </p:nvSpPr>
        <p:spPr/>
        <p:txBody>
          <a:bodyPr/>
          <a:lstStyle/>
          <a:p>
            <a:r>
              <a:rPr lang="en-IN" dirty="0"/>
              <a:t>Project Objectives</a:t>
            </a:r>
          </a:p>
        </p:txBody>
      </p:sp>
      <p:sp>
        <p:nvSpPr>
          <p:cNvPr id="3" name="Content Placeholder 2">
            <a:extLst>
              <a:ext uri="{FF2B5EF4-FFF2-40B4-BE49-F238E27FC236}">
                <a16:creationId xmlns:a16="http://schemas.microsoft.com/office/drawing/2014/main" id="{B4AE1D9F-2FBF-5949-FA1F-3C28EB7E8125}"/>
              </a:ext>
            </a:extLst>
          </p:cNvPr>
          <p:cNvSpPr>
            <a:spLocks noGrp="1"/>
          </p:cNvSpPr>
          <p:nvPr>
            <p:ph idx="1"/>
          </p:nvPr>
        </p:nvSpPr>
        <p:spPr/>
        <p:txBody>
          <a:bodyPr/>
          <a:lstStyle/>
          <a:p>
            <a:r>
              <a:rPr lang="en-US" dirty="0"/>
              <a:t>Analyze electricity consumption data </a:t>
            </a:r>
          </a:p>
          <a:p>
            <a:r>
              <a:rPr lang="en-US" dirty="0"/>
              <a:t>Compare electricity bills across companies and cities </a:t>
            </a:r>
          </a:p>
          <a:p>
            <a:r>
              <a:rPr lang="en-US" dirty="0"/>
              <a:t>Visualize energy usage trends </a:t>
            </a:r>
          </a:p>
          <a:p>
            <a:r>
              <a:rPr lang="en-US" dirty="0"/>
              <a:t>Build an interactive dashboard in Excel </a:t>
            </a:r>
          </a:p>
          <a:p>
            <a:r>
              <a:rPr lang="en-US" dirty="0"/>
              <a:t>Generate business insights from data</a:t>
            </a:r>
            <a:endParaRPr lang="en-IN" dirty="0"/>
          </a:p>
        </p:txBody>
      </p:sp>
    </p:spTree>
    <p:extLst>
      <p:ext uri="{BB962C8B-B14F-4D97-AF65-F5344CB8AC3E}">
        <p14:creationId xmlns:p14="http://schemas.microsoft.com/office/powerpoint/2010/main" val="36680605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2D6D6-3A2F-0CDE-9BD2-6445CD14DC57}"/>
              </a:ext>
            </a:extLst>
          </p:cNvPr>
          <p:cNvSpPr>
            <a:spLocks noGrp="1"/>
          </p:cNvSpPr>
          <p:nvPr>
            <p:ph type="title"/>
          </p:nvPr>
        </p:nvSpPr>
        <p:spPr>
          <a:xfrm>
            <a:off x="1295402" y="982132"/>
            <a:ext cx="9470921" cy="728681"/>
          </a:xfrm>
        </p:spPr>
        <p:txBody>
          <a:bodyPr>
            <a:normAutofit fontScale="90000"/>
          </a:bodyPr>
          <a:lstStyle/>
          <a:p>
            <a:r>
              <a:rPr lang="en-IN" dirty="0"/>
              <a:t>Dataset Details</a:t>
            </a:r>
          </a:p>
        </p:txBody>
      </p:sp>
      <p:sp>
        <p:nvSpPr>
          <p:cNvPr id="3" name="Content Placeholder 2">
            <a:extLst>
              <a:ext uri="{FF2B5EF4-FFF2-40B4-BE49-F238E27FC236}">
                <a16:creationId xmlns:a16="http://schemas.microsoft.com/office/drawing/2014/main" id="{2B6CDFB1-88A8-5696-F6C2-551BD4009546}"/>
              </a:ext>
            </a:extLst>
          </p:cNvPr>
          <p:cNvSpPr>
            <a:spLocks noGrp="1"/>
          </p:cNvSpPr>
          <p:nvPr>
            <p:ph idx="1"/>
          </p:nvPr>
        </p:nvSpPr>
        <p:spPr>
          <a:xfrm>
            <a:off x="1042219" y="2163098"/>
            <a:ext cx="9930581" cy="3785418"/>
          </a:xfrm>
        </p:spPr>
        <p:txBody>
          <a:bodyPr>
            <a:noAutofit/>
          </a:bodyPr>
          <a:lstStyle/>
          <a:p>
            <a:r>
              <a:rPr lang="en-IN" sz="1400" b="1" dirty="0"/>
              <a:t>Dataset Fields:</a:t>
            </a:r>
          </a:p>
          <a:p>
            <a:r>
              <a:rPr lang="en-IN" sz="1400" dirty="0"/>
              <a:t>City </a:t>
            </a:r>
          </a:p>
          <a:p>
            <a:r>
              <a:rPr lang="en-IN" sz="1400" dirty="0"/>
              <a:t>Company </a:t>
            </a:r>
          </a:p>
          <a:p>
            <a:r>
              <a:rPr lang="en-IN" sz="1400" dirty="0" err="1"/>
              <a:t>TariffRate</a:t>
            </a:r>
            <a:r>
              <a:rPr lang="en-IN" sz="1400" dirty="0"/>
              <a:t> </a:t>
            </a:r>
          </a:p>
          <a:p>
            <a:r>
              <a:rPr lang="en-IN" sz="1400" dirty="0" err="1"/>
              <a:t>ElectricityBill</a:t>
            </a:r>
            <a:r>
              <a:rPr lang="en-IN" sz="1400" dirty="0"/>
              <a:t> </a:t>
            </a:r>
          </a:p>
          <a:p>
            <a:r>
              <a:rPr lang="en-IN" sz="1400" dirty="0" err="1"/>
              <a:t>MonthlyHour</a:t>
            </a:r>
            <a:r>
              <a:rPr lang="en-IN" sz="1400" dirty="0"/>
              <a:t> </a:t>
            </a:r>
          </a:p>
          <a:p>
            <a:r>
              <a:rPr lang="en-IN" sz="1400" dirty="0"/>
              <a:t>Fan </a:t>
            </a:r>
          </a:p>
          <a:p>
            <a:r>
              <a:rPr lang="en-IN" sz="1400" dirty="0" err="1"/>
              <a:t>AirCondition</a:t>
            </a:r>
            <a:r>
              <a:rPr lang="en-IN" sz="1400" dirty="0"/>
              <a:t> </a:t>
            </a:r>
          </a:p>
          <a:p>
            <a:r>
              <a:rPr lang="en-IN" sz="1400" dirty="0"/>
              <a:t>Refrigerator </a:t>
            </a:r>
          </a:p>
          <a:p>
            <a:r>
              <a:rPr lang="en-IN" sz="1400" dirty="0"/>
              <a:t>Television </a:t>
            </a:r>
          </a:p>
          <a:p>
            <a:r>
              <a:rPr lang="en-IN" sz="1400" dirty="0"/>
              <a:t>Monitor </a:t>
            </a:r>
          </a:p>
          <a:p>
            <a:r>
              <a:rPr lang="en-IN" sz="1400" dirty="0" err="1"/>
              <a:t>MotorPump</a:t>
            </a:r>
            <a:r>
              <a:rPr lang="en-IN" sz="1400" dirty="0"/>
              <a:t> </a:t>
            </a:r>
            <a:endParaRPr lang="en-IN" sz="1400" b="1" dirty="0"/>
          </a:p>
          <a:p>
            <a:r>
              <a:rPr lang="en-IN" sz="1400" dirty="0"/>
              <a:t>Cleaned and processed using MS Excel</a:t>
            </a:r>
          </a:p>
          <a:p>
            <a:endParaRPr lang="en-IN" sz="1400" dirty="0"/>
          </a:p>
        </p:txBody>
      </p:sp>
    </p:spTree>
    <p:extLst>
      <p:ext uri="{BB962C8B-B14F-4D97-AF65-F5344CB8AC3E}">
        <p14:creationId xmlns:p14="http://schemas.microsoft.com/office/powerpoint/2010/main" val="20087117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5CD7D-6055-0267-ADC1-0233E20DBD18}"/>
              </a:ext>
            </a:extLst>
          </p:cNvPr>
          <p:cNvSpPr>
            <a:spLocks noGrp="1"/>
          </p:cNvSpPr>
          <p:nvPr>
            <p:ph type="title"/>
          </p:nvPr>
        </p:nvSpPr>
        <p:spPr/>
        <p:txBody>
          <a:bodyPr/>
          <a:lstStyle/>
          <a:p>
            <a:r>
              <a:rPr lang="en-IN" dirty="0"/>
              <a:t>Data Cleaning &amp; Preparation</a:t>
            </a:r>
          </a:p>
        </p:txBody>
      </p:sp>
      <p:sp>
        <p:nvSpPr>
          <p:cNvPr id="3" name="Content Placeholder 2">
            <a:extLst>
              <a:ext uri="{FF2B5EF4-FFF2-40B4-BE49-F238E27FC236}">
                <a16:creationId xmlns:a16="http://schemas.microsoft.com/office/drawing/2014/main" id="{2CFB73E5-7364-0BC8-8EC9-EA8AEB8C95D2}"/>
              </a:ext>
            </a:extLst>
          </p:cNvPr>
          <p:cNvSpPr>
            <a:spLocks noGrp="1"/>
          </p:cNvSpPr>
          <p:nvPr>
            <p:ph idx="1"/>
          </p:nvPr>
        </p:nvSpPr>
        <p:spPr/>
        <p:txBody>
          <a:bodyPr/>
          <a:lstStyle/>
          <a:p>
            <a:r>
              <a:rPr lang="en-US" dirty="0"/>
              <a:t>Removed duplicates</a:t>
            </a:r>
          </a:p>
          <a:p>
            <a:r>
              <a:rPr lang="en-US" dirty="0"/>
              <a:t> Filled missing values </a:t>
            </a:r>
          </a:p>
          <a:p>
            <a:r>
              <a:rPr lang="en-US" dirty="0"/>
              <a:t>Standardized text formatting </a:t>
            </a:r>
          </a:p>
          <a:p>
            <a:r>
              <a:rPr lang="en-US" dirty="0"/>
              <a:t>Converted text data into numeric format </a:t>
            </a:r>
          </a:p>
          <a:p>
            <a:r>
              <a:rPr lang="en-US" dirty="0"/>
              <a:t>Corrected inconsistent entries</a:t>
            </a:r>
            <a:endParaRPr lang="en-IN" dirty="0"/>
          </a:p>
        </p:txBody>
      </p:sp>
    </p:spTree>
    <p:extLst>
      <p:ext uri="{BB962C8B-B14F-4D97-AF65-F5344CB8AC3E}">
        <p14:creationId xmlns:p14="http://schemas.microsoft.com/office/powerpoint/2010/main" val="40577095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5278D-C5BF-9339-9967-1F0971B3974B}"/>
              </a:ext>
            </a:extLst>
          </p:cNvPr>
          <p:cNvSpPr>
            <a:spLocks noGrp="1"/>
          </p:cNvSpPr>
          <p:nvPr>
            <p:ph type="title"/>
          </p:nvPr>
        </p:nvSpPr>
        <p:spPr/>
        <p:txBody>
          <a:bodyPr/>
          <a:lstStyle/>
          <a:p>
            <a:r>
              <a:rPr lang="en-US" dirty="0"/>
              <a:t>Data Analysis Using Pivot Tables</a:t>
            </a:r>
            <a:endParaRPr lang="en-IN" dirty="0"/>
          </a:p>
        </p:txBody>
      </p:sp>
      <p:sp>
        <p:nvSpPr>
          <p:cNvPr id="3" name="Content Placeholder 2">
            <a:extLst>
              <a:ext uri="{FF2B5EF4-FFF2-40B4-BE49-F238E27FC236}">
                <a16:creationId xmlns:a16="http://schemas.microsoft.com/office/drawing/2014/main" id="{4F5FEB07-C4C6-BDCE-9F28-3CA99FF8BD6C}"/>
              </a:ext>
            </a:extLst>
          </p:cNvPr>
          <p:cNvSpPr>
            <a:spLocks noGrp="1"/>
          </p:cNvSpPr>
          <p:nvPr>
            <p:ph idx="1"/>
          </p:nvPr>
        </p:nvSpPr>
        <p:spPr/>
        <p:txBody>
          <a:bodyPr/>
          <a:lstStyle/>
          <a:p>
            <a:r>
              <a:rPr lang="en-US" dirty="0"/>
              <a:t>Created pivot tables for:</a:t>
            </a:r>
          </a:p>
          <a:p>
            <a:r>
              <a:rPr lang="en-US" dirty="0"/>
              <a:t>Company-wise electricity bill analysis </a:t>
            </a:r>
          </a:p>
          <a:p>
            <a:r>
              <a:rPr lang="en-US" dirty="0"/>
              <a:t>City-wise consumption analysis </a:t>
            </a:r>
          </a:p>
          <a:p>
            <a:r>
              <a:rPr lang="en-US" dirty="0"/>
              <a:t>Monthly trend analysis </a:t>
            </a:r>
          </a:p>
          <a:p>
            <a:r>
              <a:rPr lang="en-US" dirty="0"/>
              <a:t>Appliance usage comparison</a:t>
            </a:r>
          </a:p>
          <a:p>
            <a:endParaRPr lang="en-IN" dirty="0"/>
          </a:p>
        </p:txBody>
      </p:sp>
      <p:pic>
        <p:nvPicPr>
          <p:cNvPr id="5" name="Picture 4">
            <a:extLst>
              <a:ext uri="{FF2B5EF4-FFF2-40B4-BE49-F238E27FC236}">
                <a16:creationId xmlns:a16="http://schemas.microsoft.com/office/drawing/2014/main" id="{96088BE8-F443-1749-06BC-14CB00FC32D8}"/>
              </a:ext>
            </a:extLst>
          </p:cNvPr>
          <p:cNvPicPr>
            <a:picLocks noChangeAspect="1"/>
          </p:cNvPicPr>
          <p:nvPr/>
        </p:nvPicPr>
        <p:blipFill>
          <a:blip r:embed="rId2"/>
          <a:stretch>
            <a:fillRect/>
          </a:stretch>
        </p:blipFill>
        <p:spPr>
          <a:xfrm>
            <a:off x="7718322" y="2503160"/>
            <a:ext cx="3864077" cy="2107678"/>
          </a:xfrm>
          <a:prstGeom prst="rect">
            <a:avLst/>
          </a:prstGeom>
        </p:spPr>
      </p:pic>
      <p:pic>
        <p:nvPicPr>
          <p:cNvPr id="7" name="Picture 6">
            <a:extLst>
              <a:ext uri="{FF2B5EF4-FFF2-40B4-BE49-F238E27FC236}">
                <a16:creationId xmlns:a16="http://schemas.microsoft.com/office/drawing/2014/main" id="{7045916E-752E-9F2D-D166-A55DDF04B081}"/>
              </a:ext>
            </a:extLst>
          </p:cNvPr>
          <p:cNvPicPr>
            <a:picLocks noChangeAspect="1"/>
          </p:cNvPicPr>
          <p:nvPr/>
        </p:nvPicPr>
        <p:blipFill>
          <a:blip r:embed="rId3"/>
          <a:stretch>
            <a:fillRect/>
          </a:stretch>
        </p:blipFill>
        <p:spPr>
          <a:xfrm>
            <a:off x="9433373" y="4881771"/>
            <a:ext cx="2149026" cy="1265030"/>
          </a:xfrm>
          <a:prstGeom prst="rect">
            <a:avLst/>
          </a:prstGeom>
        </p:spPr>
      </p:pic>
    </p:spTree>
    <p:extLst>
      <p:ext uri="{BB962C8B-B14F-4D97-AF65-F5344CB8AC3E}">
        <p14:creationId xmlns:p14="http://schemas.microsoft.com/office/powerpoint/2010/main" val="14883753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156C5-5141-1670-FA17-878E73D69040}"/>
              </a:ext>
            </a:extLst>
          </p:cNvPr>
          <p:cNvSpPr>
            <a:spLocks noGrp="1"/>
          </p:cNvSpPr>
          <p:nvPr>
            <p:ph type="title"/>
          </p:nvPr>
        </p:nvSpPr>
        <p:spPr/>
        <p:txBody>
          <a:bodyPr>
            <a:normAutofit/>
          </a:bodyPr>
          <a:lstStyle/>
          <a:p>
            <a:r>
              <a:rPr lang="en-IN" dirty="0"/>
              <a:t>Interactive Dashboard</a:t>
            </a:r>
          </a:p>
        </p:txBody>
      </p:sp>
      <p:pic>
        <p:nvPicPr>
          <p:cNvPr id="5" name="Content Placeholder 4">
            <a:extLst>
              <a:ext uri="{FF2B5EF4-FFF2-40B4-BE49-F238E27FC236}">
                <a16:creationId xmlns:a16="http://schemas.microsoft.com/office/drawing/2014/main" id="{FF6FA632-6116-2740-9538-225C7A91489E}"/>
              </a:ext>
            </a:extLst>
          </p:cNvPr>
          <p:cNvPicPr>
            <a:picLocks noGrp="1" noChangeAspect="1"/>
          </p:cNvPicPr>
          <p:nvPr>
            <p:ph idx="1"/>
          </p:nvPr>
        </p:nvPicPr>
        <p:blipFill>
          <a:blip r:embed="rId2"/>
          <a:stretch>
            <a:fillRect/>
          </a:stretch>
        </p:blipFill>
        <p:spPr>
          <a:xfrm>
            <a:off x="6570602" y="2449308"/>
            <a:ext cx="4969813" cy="3317875"/>
          </a:xfrm>
          <a:prstGeom prst="rect">
            <a:avLst/>
          </a:prstGeom>
        </p:spPr>
      </p:pic>
      <p:sp>
        <p:nvSpPr>
          <p:cNvPr id="7" name="TextBox 6">
            <a:extLst>
              <a:ext uri="{FF2B5EF4-FFF2-40B4-BE49-F238E27FC236}">
                <a16:creationId xmlns:a16="http://schemas.microsoft.com/office/drawing/2014/main" id="{114583FD-F964-0866-2361-1E042D268E88}"/>
              </a:ext>
            </a:extLst>
          </p:cNvPr>
          <p:cNvSpPr txBox="1"/>
          <p:nvPr/>
        </p:nvSpPr>
        <p:spPr>
          <a:xfrm>
            <a:off x="1295402" y="2566219"/>
            <a:ext cx="4969813" cy="1477328"/>
          </a:xfrm>
          <a:prstGeom prst="rect">
            <a:avLst/>
          </a:prstGeom>
          <a:noFill/>
        </p:spPr>
        <p:txBody>
          <a:bodyPr wrap="square">
            <a:spAutoFit/>
          </a:bodyPr>
          <a:lstStyle/>
          <a:p>
            <a:pPr>
              <a:buNone/>
            </a:pPr>
            <a:r>
              <a:rPr lang="en-US" b="1" dirty="0"/>
              <a:t>Dashboard Components:</a:t>
            </a:r>
            <a:r>
              <a:rPr lang="en-US" dirty="0"/>
              <a:t> </a:t>
            </a:r>
          </a:p>
          <a:p>
            <a:pPr>
              <a:buFont typeface="Arial" panose="020B0604020202020204" pitchFamily="34" charset="0"/>
              <a:buChar char="•"/>
            </a:pPr>
            <a:r>
              <a:rPr lang="en-US" dirty="0"/>
              <a:t>Bar Chart </a:t>
            </a:r>
          </a:p>
          <a:p>
            <a:pPr>
              <a:buFont typeface="Arial" panose="020B0604020202020204" pitchFamily="34" charset="0"/>
              <a:buChar char="•"/>
            </a:pPr>
            <a:r>
              <a:rPr lang="en-US" dirty="0"/>
              <a:t>Pie Chart </a:t>
            </a:r>
          </a:p>
          <a:p>
            <a:pPr>
              <a:buFont typeface="Arial" panose="020B0604020202020204" pitchFamily="34" charset="0"/>
              <a:buChar char="•"/>
            </a:pPr>
            <a:r>
              <a:rPr lang="en-US" dirty="0"/>
              <a:t>Line Graph</a:t>
            </a:r>
          </a:p>
          <a:p>
            <a:pPr>
              <a:buFont typeface="Arial" panose="020B0604020202020204" pitchFamily="34" charset="0"/>
              <a:buChar char="•"/>
            </a:pPr>
            <a:r>
              <a:rPr lang="en-US" dirty="0"/>
              <a:t>KPI Cards</a:t>
            </a:r>
          </a:p>
        </p:txBody>
      </p:sp>
    </p:spTree>
    <p:extLst>
      <p:ext uri="{BB962C8B-B14F-4D97-AF65-F5344CB8AC3E}">
        <p14:creationId xmlns:p14="http://schemas.microsoft.com/office/powerpoint/2010/main" val="38275515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0A9CD-5A4A-F655-4A48-C2FA539A6173}"/>
              </a:ext>
            </a:extLst>
          </p:cNvPr>
          <p:cNvSpPr>
            <a:spLocks noGrp="1"/>
          </p:cNvSpPr>
          <p:nvPr>
            <p:ph type="title"/>
          </p:nvPr>
        </p:nvSpPr>
        <p:spPr/>
        <p:txBody>
          <a:bodyPr/>
          <a:lstStyle/>
          <a:p>
            <a:r>
              <a:rPr lang="en-IN" dirty="0"/>
              <a:t>Key Findings</a:t>
            </a:r>
          </a:p>
        </p:txBody>
      </p:sp>
      <p:sp>
        <p:nvSpPr>
          <p:cNvPr id="3" name="Content Placeholder 2">
            <a:extLst>
              <a:ext uri="{FF2B5EF4-FFF2-40B4-BE49-F238E27FC236}">
                <a16:creationId xmlns:a16="http://schemas.microsoft.com/office/drawing/2014/main" id="{47692FA3-6426-59D0-DC1F-ABAEDB637845}"/>
              </a:ext>
            </a:extLst>
          </p:cNvPr>
          <p:cNvSpPr>
            <a:spLocks noGrp="1"/>
          </p:cNvSpPr>
          <p:nvPr>
            <p:ph idx="1"/>
          </p:nvPr>
        </p:nvSpPr>
        <p:spPr/>
        <p:txBody>
          <a:bodyPr/>
          <a:lstStyle/>
          <a:p>
            <a:r>
              <a:rPr lang="en-US" dirty="0"/>
              <a:t>Refrigerator contribute highest electricity consumption. </a:t>
            </a:r>
          </a:p>
          <a:p>
            <a:r>
              <a:rPr lang="en-US" dirty="0"/>
              <a:t>Higher tariff rates result in increased electricity bills. </a:t>
            </a:r>
          </a:p>
          <a:p>
            <a:r>
              <a:rPr lang="en-US" dirty="0"/>
              <a:t>Some cities show significantly higher energy usage patterns. </a:t>
            </a:r>
          </a:p>
          <a:p>
            <a:r>
              <a:rPr lang="en-US" dirty="0"/>
              <a:t>Dashboard enables quick monitoring and comparison</a:t>
            </a:r>
            <a:endParaRPr lang="en-IN" dirty="0"/>
          </a:p>
        </p:txBody>
      </p:sp>
    </p:spTree>
    <p:extLst>
      <p:ext uri="{BB962C8B-B14F-4D97-AF65-F5344CB8AC3E}">
        <p14:creationId xmlns:p14="http://schemas.microsoft.com/office/powerpoint/2010/main" val="4786470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72D2F-A2BA-7CBF-E5E8-63C4D392F7AA}"/>
              </a:ext>
            </a:extLst>
          </p:cNvPr>
          <p:cNvSpPr>
            <a:spLocks noGrp="1"/>
          </p:cNvSpPr>
          <p:nvPr>
            <p:ph type="title"/>
          </p:nvPr>
        </p:nvSpPr>
        <p:spPr/>
        <p:txBody>
          <a:bodyPr/>
          <a:lstStyle/>
          <a:p>
            <a:r>
              <a:rPr lang="en-IN" dirty="0"/>
              <a:t>Tools &amp; Skills Applied</a:t>
            </a:r>
          </a:p>
        </p:txBody>
      </p:sp>
      <p:sp>
        <p:nvSpPr>
          <p:cNvPr id="3" name="Content Placeholder 2">
            <a:extLst>
              <a:ext uri="{FF2B5EF4-FFF2-40B4-BE49-F238E27FC236}">
                <a16:creationId xmlns:a16="http://schemas.microsoft.com/office/drawing/2014/main" id="{EB4A9587-0A4D-F25B-6014-9A5E1E97AD6C}"/>
              </a:ext>
            </a:extLst>
          </p:cNvPr>
          <p:cNvSpPr>
            <a:spLocks noGrp="1"/>
          </p:cNvSpPr>
          <p:nvPr>
            <p:ph idx="1"/>
          </p:nvPr>
        </p:nvSpPr>
        <p:spPr>
          <a:xfrm>
            <a:off x="1295401" y="2448231"/>
            <a:ext cx="9726560" cy="3775587"/>
          </a:xfrm>
        </p:spPr>
        <p:txBody>
          <a:bodyPr>
            <a:normAutofit fontScale="77500" lnSpcReduction="20000"/>
          </a:bodyPr>
          <a:lstStyle/>
          <a:p>
            <a:r>
              <a:rPr lang="en-US" b="1" dirty="0"/>
              <a:t>Tools:</a:t>
            </a:r>
          </a:p>
          <a:p>
            <a:r>
              <a:rPr lang="en-US" dirty="0"/>
              <a:t>MS Excel </a:t>
            </a:r>
          </a:p>
          <a:p>
            <a:r>
              <a:rPr lang="en-US" dirty="0"/>
              <a:t>Pivot Tables </a:t>
            </a:r>
          </a:p>
          <a:p>
            <a:r>
              <a:rPr lang="en-US" dirty="0"/>
              <a:t>Charts </a:t>
            </a:r>
          </a:p>
          <a:p>
            <a:r>
              <a:rPr lang="en-US" dirty="0"/>
              <a:t>Dashboard Design</a:t>
            </a:r>
            <a:endParaRPr lang="en-IN" dirty="0"/>
          </a:p>
          <a:p>
            <a:r>
              <a:rPr lang="en-US" b="1" dirty="0"/>
              <a:t>Skills:</a:t>
            </a:r>
          </a:p>
          <a:p>
            <a:r>
              <a:rPr lang="en-US" dirty="0"/>
              <a:t>Data Cleaning </a:t>
            </a:r>
          </a:p>
          <a:p>
            <a:r>
              <a:rPr lang="en-US" dirty="0"/>
              <a:t>Data Visualization </a:t>
            </a:r>
          </a:p>
          <a:p>
            <a:r>
              <a:rPr lang="en-US" dirty="0"/>
              <a:t>Data Analysis </a:t>
            </a:r>
          </a:p>
          <a:p>
            <a:r>
              <a:rPr lang="en-US" dirty="0"/>
              <a:t>Dashboard Development</a:t>
            </a:r>
          </a:p>
          <a:p>
            <a:endParaRPr lang="en-US" dirty="0"/>
          </a:p>
        </p:txBody>
      </p:sp>
    </p:spTree>
    <p:extLst>
      <p:ext uri="{BB962C8B-B14F-4D97-AF65-F5344CB8AC3E}">
        <p14:creationId xmlns:p14="http://schemas.microsoft.com/office/powerpoint/2010/main" val="37312160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7CFFC-0A9A-55A4-777E-1C7D3EB5B1AC}"/>
              </a:ext>
            </a:extLst>
          </p:cNvPr>
          <p:cNvSpPr>
            <a:spLocks noGrp="1"/>
          </p:cNvSpPr>
          <p:nvPr>
            <p:ph type="title"/>
          </p:nvPr>
        </p:nvSpPr>
        <p:spPr/>
        <p:txBody>
          <a:bodyPr/>
          <a:lstStyle/>
          <a:p>
            <a:r>
              <a:rPr lang="en-IN" dirty="0"/>
              <a:t>Leading and Lagging Indicators</a:t>
            </a:r>
          </a:p>
        </p:txBody>
      </p:sp>
      <p:sp>
        <p:nvSpPr>
          <p:cNvPr id="3" name="Content Placeholder 2">
            <a:extLst>
              <a:ext uri="{FF2B5EF4-FFF2-40B4-BE49-F238E27FC236}">
                <a16:creationId xmlns:a16="http://schemas.microsoft.com/office/drawing/2014/main" id="{DDC03345-F060-1849-1F2D-16744CA73F65}"/>
              </a:ext>
            </a:extLst>
          </p:cNvPr>
          <p:cNvSpPr>
            <a:spLocks noGrp="1"/>
          </p:cNvSpPr>
          <p:nvPr>
            <p:ph idx="1"/>
          </p:nvPr>
        </p:nvSpPr>
        <p:spPr>
          <a:xfrm>
            <a:off x="1295400" y="2556931"/>
            <a:ext cx="9992031" cy="3558733"/>
          </a:xfrm>
        </p:spPr>
        <p:txBody>
          <a:bodyPr>
            <a:normAutofit fontScale="62500" lnSpcReduction="20000"/>
          </a:bodyPr>
          <a:lstStyle/>
          <a:p>
            <a:r>
              <a:rPr lang="en-IN" b="1" dirty="0"/>
              <a:t>Leading Indicators:</a:t>
            </a:r>
          </a:p>
          <a:p>
            <a:r>
              <a:rPr lang="en-IN" dirty="0"/>
              <a:t>Appliance Usage</a:t>
            </a:r>
          </a:p>
          <a:p>
            <a:r>
              <a:rPr lang="en-IN" dirty="0"/>
              <a:t>Monthly Usage Hours</a:t>
            </a:r>
          </a:p>
          <a:p>
            <a:r>
              <a:rPr lang="en-IN" dirty="0"/>
              <a:t>Tariff Rate</a:t>
            </a:r>
          </a:p>
          <a:p>
            <a:r>
              <a:rPr lang="en-IN" dirty="0"/>
              <a:t>City Consumption Trend</a:t>
            </a:r>
          </a:p>
          <a:p>
            <a:pPr marL="0" indent="0">
              <a:buNone/>
            </a:pPr>
            <a:r>
              <a:rPr lang="en-IN" b="1" dirty="0"/>
              <a:t>Lagging Indicators</a:t>
            </a:r>
          </a:p>
          <a:p>
            <a:pPr marL="0" indent="0">
              <a:buNone/>
            </a:pPr>
            <a:r>
              <a:rPr lang="en-IN" dirty="0"/>
              <a:t>Total Electricity Bill</a:t>
            </a:r>
          </a:p>
          <a:p>
            <a:pPr marL="0" indent="0">
              <a:buNone/>
            </a:pPr>
            <a:r>
              <a:rPr lang="en-IN" dirty="0"/>
              <a:t>Average Bill</a:t>
            </a:r>
          </a:p>
          <a:p>
            <a:pPr marL="0" indent="0">
              <a:buNone/>
            </a:pPr>
            <a:r>
              <a:rPr lang="en-IN" dirty="0"/>
              <a:t>Highest Bill</a:t>
            </a:r>
          </a:p>
          <a:p>
            <a:pPr marL="0" indent="0">
              <a:buNone/>
            </a:pPr>
            <a:r>
              <a:rPr lang="en-IN" dirty="0"/>
              <a:t>Lowest Bill</a:t>
            </a:r>
          </a:p>
          <a:p>
            <a:pPr marL="0" indent="0">
              <a:buNone/>
            </a:pPr>
            <a:r>
              <a:rPr lang="en-IN" dirty="0"/>
              <a:t>Company with Maximum Bill</a:t>
            </a:r>
          </a:p>
        </p:txBody>
      </p:sp>
    </p:spTree>
    <p:extLst>
      <p:ext uri="{BB962C8B-B14F-4D97-AF65-F5344CB8AC3E}">
        <p14:creationId xmlns:p14="http://schemas.microsoft.com/office/powerpoint/2010/main" val="36962575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5255D-4AAA-31D4-060B-8693E0F3F5B6}"/>
              </a:ext>
            </a:extLst>
          </p:cNvPr>
          <p:cNvSpPr>
            <a:spLocks noGrp="1"/>
          </p:cNvSpPr>
          <p:nvPr>
            <p:ph type="title"/>
          </p:nvPr>
        </p:nvSpPr>
        <p:spPr/>
        <p:txBody>
          <a:bodyPr/>
          <a:lstStyle/>
          <a:p>
            <a:r>
              <a:rPr lang="en-US" dirty="0"/>
              <a:t>Solutions</a:t>
            </a:r>
            <a:endParaRPr lang="en-IN" dirty="0"/>
          </a:p>
        </p:txBody>
      </p:sp>
      <p:pic>
        <p:nvPicPr>
          <p:cNvPr id="5" name="Content Placeholder 4">
            <a:extLst>
              <a:ext uri="{FF2B5EF4-FFF2-40B4-BE49-F238E27FC236}">
                <a16:creationId xmlns:a16="http://schemas.microsoft.com/office/drawing/2014/main" id="{2D1CFF17-D7DD-5EE5-D823-90EF73F96308}"/>
              </a:ext>
            </a:extLst>
          </p:cNvPr>
          <p:cNvPicPr>
            <a:picLocks noGrp="1" noChangeAspect="1"/>
          </p:cNvPicPr>
          <p:nvPr>
            <p:ph idx="1"/>
          </p:nvPr>
        </p:nvPicPr>
        <p:blipFill>
          <a:blip r:embed="rId2"/>
          <a:stretch>
            <a:fillRect/>
          </a:stretch>
        </p:blipFill>
        <p:spPr>
          <a:xfrm>
            <a:off x="3185706" y="2739819"/>
            <a:ext cx="5820587" cy="2953162"/>
          </a:xfrm>
          <a:prstGeom prst="rect">
            <a:avLst/>
          </a:prstGeom>
        </p:spPr>
      </p:pic>
    </p:spTree>
    <p:extLst>
      <p:ext uri="{BB962C8B-B14F-4D97-AF65-F5344CB8AC3E}">
        <p14:creationId xmlns:p14="http://schemas.microsoft.com/office/powerpoint/2010/main" val="467921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B446C-B4FA-09ED-52E1-0889248A8B0E}"/>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CE40FD29-C381-305D-7237-DC936B9DC7DB}"/>
              </a:ext>
            </a:extLst>
          </p:cNvPr>
          <p:cNvSpPr>
            <a:spLocks noGrp="1"/>
          </p:cNvSpPr>
          <p:nvPr>
            <p:ph idx="1"/>
          </p:nvPr>
        </p:nvSpPr>
        <p:spPr/>
        <p:txBody>
          <a:bodyPr/>
          <a:lstStyle/>
          <a:p>
            <a:r>
              <a:rPr lang="en-US" dirty="0"/>
              <a:t>Successfully developed an electricity consumption analysis dashboard in MS Excel. </a:t>
            </a:r>
          </a:p>
          <a:p>
            <a:r>
              <a:rPr lang="en-US" dirty="0"/>
              <a:t>The project improved understanding of data cleaning, pivot analysis, and dashboard creation. </a:t>
            </a:r>
          </a:p>
          <a:p>
            <a:r>
              <a:rPr lang="en-US" dirty="0"/>
              <a:t>Interactive visualizations helped identify important electricity consumption trends</a:t>
            </a:r>
            <a:endParaRPr lang="en-IN" dirty="0"/>
          </a:p>
        </p:txBody>
      </p:sp>
    </p:spTree>
    <p:extLst>
      <p:ext uri="{BB962C8B-B14F-4D97-AF65-F5344CB8AC3E}">
        <p14:creationId xmlns:p14="http://schemas.microsoft.com/office/powerpoint/2010/main" val="32904103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A5ACB-90AC-86EC-C880-2BE1CF6169FF}"/>
              </a:ext>
            </a:extLst>
          </p:cNvPr>
          <p:cNvSpPr>
            <a:spLocks noGrp="1"/>
          </p:cNvSpPr>
          <p:nvPr>
            <p:ph type="title"/>
          </p:nvPr>
        </p:nvSpPr>
        <p:spPr/>
        <p:txBody>
          <a:bodyPr>
            <a:normAutofit/>
          </a:bodyPr>
          <a:lstStyle/>
          <a:p>
            <a:endParaRPr lang="en-IN" sz="5400" b="1" dirty="0">
              <a:latin typeface="Algerian" panose="04020705040A02060702" pitchFamily="82" charset="0"/>
            </a:endParaRPr>
          </a:p>
        </p:txBody>
      </p:sp>
      <p:sp>
        <p:nvSpPr>
          <p:cNvPr id="3" name="Content Placeholder 2">
            <a:extLst>
              <a:ext uri="{FF2B5EF4-FFF2-40B4-BE49-F238E27FC236}">
                <a16:creationId xmlns:a16="http://schemas.microsoft.com/office/drawing/2014/main" id="{7AC8A193-8C14-BDDA-2EA3-B6638AC924E7}"/>
              </a:ext>
            </a:extLst>
          </p:cNvPr>
          <p:cNvSpPr>
            <a:spLocks noGrp="1"/>
          </p:cNvSpPr>
          <p:nvPr>
            <p:ph idx="1"/>
          </p:nvPr>
        </p:nvSpPr>
        <p:spPr/>
        <p:txBody>
          <a:bodyPr>
            <a:normAutofit/>
          </a:bodyPr>
          <a:lstStyle/>
          <a:p>
            <a:pPr marL="0" indent="0" algn="ctr">
              <a:buNone/>
            </a:pPr>
            <a:r>
              <a:rPr lang="en-IN" sz="5400" dirty="0">
                <a:latin typeface="Algerian" panose="04020705040A02060702" pitchFamily="82" charset="0"/>
              </a:rPr>
              <a:t>Thank You</a:t>
            </a:r>
          </a:p>
        </p:txBody>
      </p:sp>
    </p:spTree>
    <p:extLst>
      <p:ext uri="{BB962C8B-B14F-4D97-AF65-F5344CB8AC3E}">
        <p14:creationId xmlns:p14="http://schemas.microsoft.com/office/powerpoint/2010/main" val="3261706150"/>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112</TotalTime>
  <Words>408</Words>
  <Application>Microsoft Office PowerPoint</Application>
  <PresentationFormat>Widescreen</PresentationFormat>
  <Paragraphs>84</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Algerian</vt:lpstr>
      <vt:lpstr>Arial</vt:lpstr>
      <vt:lpstr>Garamond</vt:lpstr>
      <vt:lpstr>Organic</vt:lpstr>
      <vt:lpstr>Electricity Bill &amp; Energy Consumption Analyzer</vt:lpstr>
      <vt:lpstr>Problem Statement</vt:lpstr>
      <vt:lpstr>Project Overview</vt:lpstr>
      <vt:lpstr>Project Objectives</vt:lpstr>
      <vt:lpstr>Dataset Details</vt:lpstr>
      <vt:lpstr>Data Cleaning &amp; Preparation</vt:lpstr>
      <vt:lpstr>Data Analysis Using Pivot Tables</vt:lpstr>
      <vt:lpstr>Interactive Dashboard</vt:lpstr>
      <vt:lpstr>Key Findings</vt:lpstr>
      <vt:lpstr>Tools &amp; Skills Applied</vt:lpstr>
      <vt:lpstr>Leading and Lagging Indicators</vt:lpstr>
      <vt:lpstr>Solutions</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surajit2033@gmail.com</dc:creator>
  <cp:lastModifiedBy>Anudip</cp:lastModifiedBy>
  <cp:revision>5</cp:revision>
  <dcterms:created xsi:type="dcterms:W3CDTF">2026-05-19T04:25:12Z</dcterms:created>
  <dcterms:modified xsi:type="dcterms:W3CDTF">2026-05-27T10:04:15Z</dcterms:modified>
</cp:coreProperties>
</file>